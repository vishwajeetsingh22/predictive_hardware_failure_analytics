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Daily Records by Failure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 (0)</c:v>
                </c:pt>
                <c:pt idx="1">
                  <c:v>Failed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30942092</c:v>
                </c:pt>
                <c:pt idx="1">
                  <c:v>1054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9C-4782-B6E9-B8643201A1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Records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528816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Hardware Failure Analytics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12188952" cy="2743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Hardware Failure Analytics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Actionable Insights through Data Preprocessing, Analysis &amp; Visualization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4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Backblaze Hard Drive SMART Telemetry (Q1 2026)  |  30.9M records  |  351,095 drives  |  80 </a:t>
            </a:r>
            <a:r>
              <a:rPr lang="en-US" sz="140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Team  •  MCA, JAIN (Deemed-to-be University)  •  Faculty: Dr. I Brem Navas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173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28800" y="1554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0" y="123444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4173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0" y="15544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175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828800" y="3154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283464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0175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315200" y="3154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Visualizations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177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828800" y="47548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443484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6177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315200" y="47548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Conclusion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5394960" cy="2743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hard-drive failure </a:t>
            </a: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data loss, downtime, and costly emergency replacement in data centres.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drive continuously logs SMART health telemetry — but the raw feed has missing values, duplicates, and extreme outliers.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failure is a rare event, creating a severe class-imbalance analytical challenge.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clean, analyse &amp; visualise real telemetry to identify which signals are associated with failure, as the foundation for predictive maintenance.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28016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508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67512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daily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89720" y="128016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9189720" y="1508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351,095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28116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drives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310896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337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67512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models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89720" y="3108960"/>
            <a:ext cx="2377440" cy="160020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3337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28116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observed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Backblaze Hard Drive "Drive Stats" SMART telemetry — Q1 2026 extract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4922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serial_number,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date, unique drive ID, drive model (3 categorical fields)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capacity_bytes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 storage 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label — 1 if drive failed on that date, else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5 / 9 / 90 / 187 / 188 / 197 / 198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paired SMART health attributes (normalized + raw), 14 numeric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 fits the case study: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2120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30.9M records, 351K devices, 19 attributes — far exceeds the 500-record minimum, and its multi-gigabyte scale required memory-aware engineering (float32/int8 downcasting, sparse encoding).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360920" y="1417320"/>
            <a:ext cx="4251960" cy="4892040"/>
          </a:xfrm>
          <a:prstGeom prst="roundRect">
            <a:avLst>
              <a:gd name="adj" fmla="val 2151"/>
            </a:avLst>
          </a:prstGeom>
          <a:solidFill>
            <a:srgbClr val="EAF1F9"/>
          </a:solidFill>
          <a:ln/>
        </p:spPr>
      </p:sp>
      <p:sp>
        <p:nvSpPr>
          <p:cNvPr id="8" name="Text 5"/>
          <p:cNvSpPr/>
          <p:nvPr/>
        </p:nvSpPr>
        <p:spPr>
          <a:xfrm>
            <a:off x="763524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Drive Models by Volume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35240" y="214884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WDC WUH722222ALE6L4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195560" y="21488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4,038,443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35240" y="26517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TOSHIBA MG08ACA16TA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195560" y="26517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3,587,969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31546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TOSHIBA MG07ACA14TA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0195560" y="31546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3,380,872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35240" y="3657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ST16000NM001G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195560" y="36576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3,132,694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635240" y="41605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WDC WUH721816ALE6L4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0195560" y="41605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2,392,299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635240" y="4800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models ≈ 53% of all daily records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6D6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(numeric) / mode (categorical) imputation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33472" y="233172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79776" y="141732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2E74B5"/>
          </a:solidFill>
          <a:ln/>
        </p:spPr>
      </p:sp>
      <p:sp>
        <p:nvSpPr>
          <p:cNvPr id="9" name="Text 7"/>
          <p:cNvSpPr/>
          <p:nvPr/>
        </p:nvSpPr>
        <p:spPr>
          <a:xfrm>
            <a:off x="2916936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6D6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16936" y="20574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16936" y="256032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345,662 exact duplicate rows removed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233172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10912" y="141732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5148072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6D6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48072" y="20574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48072" y="256032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1.5×IQR detection + capping on 15 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95744" y="233172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42048" y="141732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7379208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6D6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379208" y="20574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79208" y="256032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 check; no 1-hot encoding required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0" y="2331720"/>
            <a:ext cx="146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95959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473184" y="1417320"/>
            <a:ext cx="2084832" cy="233172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9610344" y="15544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B6D6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10344" y="20574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610344" y="2560320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15 continuous features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30,943,146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30,597,484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345,662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122,124,538 cells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footprint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9,190.94 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7,337.45 MB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Extreme Class Imbalance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2344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903720" y="1234440"/>
            <a:ext cx="4709160" cy="4206240"/>
          </a:xfrm>
          <a:prstGeom prst="roundRect">
            <a:avLst>
              <a:gd name="adj" fmla="val 2174"/>
            </a:avLst>
          </a:prstGeom>
          <a:solidFill>
            <a:srgbClr val="EAF1F9"/>
          </a:solidFill>
          <a:ln/>
        </p:spPr>
      </p:sp>
      <p:sp>
        <p:nvSpPr>
          <p:cNvPr id="5" name="Text 2"/>
          <p:cNvSpPr/>
          <p:nvPr/>
        </p:nvSpPr>
        <p:spPr>
          <a:xfrm>
            <a:off x="7132320" y="15544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99.9966%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331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records are healthy drives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132320" y="2880360"/>
            <a:ext cx="4114800" cy="0"/>
          </a:xfrm>
          <a:prstGeom prst="line">
            <a:avLst/>
          </a:prstGeom>
          <a:noFill/>
          <a:ln w="12700">
            <a:solidFill>
              <a:srgbClr val="C9D6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0" y="306324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0.0034%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132320" y="370332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are failures — 1,054 events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1 in every 29,357 records)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132320" y="4617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any model must use class-imbalance-aware techniques — plain accuracy is meaningless here.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Correlation Structure</a:t>
            </a:r>
            <a:endParaRPr lang="en-US" sz="2800" dirty="0"/>
          </a:p>
        </p:txBody>
      </p:sp>
      <p:pic>
        <p:nvPicPr>
          <p:cNvPr id="3" name="Image 0" descr="viz/visualizations/step_66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612648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440" y="1234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relationships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691640"/>
          <a:ext cx="4709160" cy="9144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smart_197_raw ↔ smart_198_raw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capacity_bytes ↔ smart_9_raw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smart_9_normalized ↔ smart_9_raw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capacity_bytes ↔ smart_9_normalized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↔ smart_198_raw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949440" y="48463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smart_90 is the only attribute that stays constant (reported by just 13.65% of drives); the other paired SMART attributes retain real structure on the raw feed — SMART 197 and 198 (raw) move almost in lockstep (r = 0.99).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Gallery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788920" cy="2651760"/>
          </a:xfrm>
          <a:prstGeom prst="roundRect">
            <a:avLst>
              <a:gd name="adj" fmla="val 206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4" name="Image 0" descr="viz/visualizations/step_60_b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2697480" cy="2057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337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Failure Status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429000" y="1188720"/>
            <a:ext cx="2788920" cy="2651760"/>
          </a:xfrm>
          <a:prstGeom prst="roundRect">
            <a:avLst>
              <a:gd name="adj" fmla="val 206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7" name="Image 1" descr="viz/visualizations/step_62_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234440"/>
            <a:ext cx="2697480" cy="2057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4720" y="3337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— Capacity Distribution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55080" y="1188720"/>
            <a:ext cx="2788920" cy="2651760"/>
          </a:xfrm>
          <a:prstGeom prst="roundRect">
            <a:avLst>
              <a:gd name="adj" fmla="val 206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0" name="Image 2" descr="viz/visualizations/step_64_box_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34440"/>
            <a:ext cx="2697480" cy="2057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0" y="3337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Capacity Spread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9281160" y="1188720"/>
            <a:ext cx="2788920" cy="2651760"/>
          </a:xfrm>
          <a:prstGeom prst="roundRect">
            <a:avLst>
              <a:gd name="adj" fmla="val 2069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3" name="Image 3" descr="viz/visualizations/step_65_pie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234440"/>
            <a:ext cx="2697480" cy="2057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26880" y="3337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Failure Proportion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502920" y="397764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6" name="Image 4" descr="viz/visualizations/step_61_line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23360"/>
            <a:ext cx="2788920" cy="18745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8640" y="59436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Capacity Trend Over Time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3566160" y="3977640"/>
            <a:ext cx="2880360" cy="2468880"/>
          </a:xfrm>
          <a:prstGeom prst="roundRect">
            <a:avLst>
              <a:gd name="adj" fmla="val 2222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pic>
        <p:nvPicPr>
          <p:cNvPr id="19" name="Image 5" descr="viz/visualizations/step_67_failure_status_comparis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1880" y="4023360"/>
            <a:ext cx="2788920" cy="18745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611880" y="59436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Capacity by Failure Status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6720840" y="4023360"/>
            <a:ext cx="4892040" cy="2377440"/>
          </a:xfrm>
          <a:prstGeom prst="roundRect">
            <a:avLst>
              <a:gd name="adj" fmla="val 3846"/>
            </a:avLst>
          </a:prstGeom>
          <a:solidFill>
            <a:srgbClr val="1F3864"/>
          </a:solidFill>
          <a:ln/>
        </p:spPr>
      </p:sp>
      <p:sp>
        <p:nvSpPr>
          <p:cNvPr id="22" name="Text 14"/>
          <p:cNvSpPr/>
          <p:nvPr/>
        </p:nvSpPr>
        <p:spPr>
          <a:xfrm>
            <a:off x="6949440" y="4160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949440" y="452628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drives average 1.48×10¹³ bytes of capacity vs. 1.57×10¹³ bytes for healthy drives — visually confirmed by the failure-status box plot above.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(1 of 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77240" cy="1417320"/>
          </a:xfrm>
          <a:prstGeom prst="roundRect">
            <a:avLst>
              <a:gd name="adj" fmla="val 9412"/>
            </a:avLst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77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63040" y="1280160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14173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an extreme rare event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87452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0.0034% of records are failures (1,054 of 30,943,146) — imbalance-aware modelling is essential.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777240" cy="1417320"/>
          </a:xfrm>
          <a:prstGeom prst="roundRect">
            <a:avLst>
              <a:gd name="adj" fmla="val 9412"/>
            </a:avLst>
          </a:prstGeom>
          <a:solidFill>
            <a:srgbClr val="2E74B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777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463040" y="2971800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1089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197 and 198 (raw) move almost in lockstep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5661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0.99 between smart_197_raw and smart_198_raw — the two uncorrectable/pending-sector counters likely capture the same wear mechanism.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777240" cy="1417320"/>
          </a:xfrm>
          <a:prstGeom prst="roundRect">
            <a:avLst>
              <a:gd name="adj" fmla="val 9412"/>
            </a:avLst>
          </a:prstGeom>
          <a:solidFill>
            <a:srgbClr val="2E74B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777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463040" y="4663440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48006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power-on hours remain entangled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52578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capacity_bytes and smart_9_raw (power-on hours) are strongly negatively correlated (r ≈ -0.70) — larger-capacity drives have, on average, fewer duty hours.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(2 of 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777240" cy="141732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77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63040" y="1280160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14173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drives run smaller-capacity on average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87452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capacity is 1.48×10¹³ bytes for failed drives vs. 1.57×10¹³ bytes for healthy drives, across the full 30.9M-row population.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777240" cy="141732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777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463040" y="2971800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1089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volume is concentrated in 5 models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56616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 of 80 drive models generate ≈53% of all daily records — fleet-wide stats mask model-specific risk.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63440"/>
            <a:ext cx="777240" cy="1417320"/>
          </a:xfrm>
          <a:prstGeom prst="roundRect">
            <a:avLst>
              <a:gd name="adj" fmla="val 9412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777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463040" y="4663440"/>
            <a:ext cx="1019556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48006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materially changed the dataset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525780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345,662 duplicates + up to 3.9M outlier values in a single feature were resolved before analysis began.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EAF1F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power-on hours in maintenance scheduling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failure rate per drive model, not only fleet-wide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incidence per 10,000 drive-days, not raw %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SMART reporting gaps with vendors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188720"/>
            <a:ext cx="5440680" cy="5074920"/>
          </a:xfrm>
          <a:prstGeom prst="roundRect">
            <a:avLst>
              <a:gd name="adj" fmla="val 1802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3716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/ Modelling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imbalance-aware modelling (class weights / resampling / anomaly detection)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Re-source or engineer indicators for the constant SMART fields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time-to-failure (survival analysis) using power-on hours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models by drive family before pooling results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observation window beyond 90 days for more failure events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2011680" cy="27432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600200"/>
            <a:ext cx="107899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pipeline — cleaning, EDA, and visualization — turned 30.9M raw telemetry rows into a validated, decision-ready analytical dataset.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remains extremely rare (0.0034%); capacity and power-on hours remain entangled (r ≈ -0.70), and SMART 197/198 (raw) move almost in lockstep (r = 0.99).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data-completeness gap (66–86% missing on several SMART fields) was surfaced as a genuine limitation, not a modelling failure.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EA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preprocessing was decisive: 345,662 duplicates and millions of outlier values separated the raw feed from analysis-ready data.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394960" y="4160520"/>
            <a:ext cx="1371600" cy="18288"/>
          </a:xfrm>
          <a:prstGeom prst="rect">
            <a:avLst/>
          </a:prstGeom>
          <a:solidFill>
            <a:srgbClr val="C9D6E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Hardware Failure Analytics  |  Group Project Team  |  MCA, JAIN (Deemed-to-be University)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1069</Words>
  <Application>Microsoft Office PowerPoint</Application>
  <PresentationFormat>Widescreen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vishwajeet singh</cp:lastModifiedBy>
  <cp:revision>2</cp:revision>
  <dcterms:created xsi:type="dcterms:W3CDTF">2026-08-26T05:12:57Z</dcterms:created>
  <dcterms:modified xsi:type="dcterms:W3CDTF">2026-09-07T09:16:18Z</dcterms:modified>
</cp:coreProperties>
</file>